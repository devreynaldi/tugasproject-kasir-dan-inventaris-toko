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0a553440-d826-9c07-ab62-1899d3d4905c}">
          <p14:sldIdLst>
            <p14:sldId id="256"/>
          </p14:sldIdLst>
        </p14:section>
        <p14:section name="Analisis" id="{cbdc53b5-f4bf-78f0-e7e2-bddc9d3b85e8}">
          <p14:sldIdLst>
            <p14:sldId id="257"/>
            <p14:sldId id="258"/>
          </p14:sldIdLst>
        </p14:section>
        <p14:section name="Perancangan" id="{fc5b206e-4b36-93b5-1fa2-786917cc78c0}">
          <p14:sldIdLst>
            <p14:sldId id="259"/>
          </p14:sldIdLst>
        </p14:section>
        <p14:section name="Implementasi" id="{52b2abcc-6758-79da-c3ee-04fb329fd281}">
          <p14:sldIdLst>
            <p14:sldId id="260"/>
          </p14:sldIdLst>
        </p14:section>
        <p14:section name="Pengujian" id="{8aa7674f-305f-8209-4f8a-6f9cfb506a9e}">
          <p14:sldIdLst>
            <p14:sldId id="261"/>
          </p14:sldIdLst>
        </p14:section>
        <p14:section name="Deployment" id="{56357767-63dd-40e7-6f8e-f31c2490f4c7}">
          <p14:sldIdLst>
            <p14:sldId id="262"/>
          </p14:sldIdLst>
        </p14:section>
        <p14:section name="Penutup" id="{363d29b2-f95b-ee47-f9ab-1362439ea58a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Perkenalkan diri dan tim. Sebutkan bahwa presentasi mengikuti urutan SDLC dan ditutup demo singkat.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masalah nyata toko kecil: pencatatan manual, stok tidak sinkron, rekap lambat. Tujuan menjawab tiap masalah.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 aktor: admin dan kasir. Sebutkan 10 kebutuhan fungsional di dokumen; di sini dirangkum menjadi tiga kelompok.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Arsitektur MVC monolit. Tekankan keputusan desain: harga integer, snapshot item, soft delete, stok hanya lewat mutasi.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Fokus pada CheckoutService: satu transaksi DB, lockForUpdate mencegah dua kasir menjual stok yang sama, baris duplikat digabung sebelum cek stok.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Jangan klaim hasil lulus kecuali sudah dijalankan. Tunjukkan output php artisan test dan pipeline CI saat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container: web (Nginx), app (PHP-FPM), db (MySQL). Entrypoint menjalankan migrasi dan cache otomatis. Ingatkan: ganti password akun demo dan pasang HTTPS.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±5 menit sesuai skenario di docs/SDLC.md §6. Tutup dengan keterbatasan dan rencana iterasi berikutnya.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TokoKu POS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Aplikasi Kasir &amp; Inventaris Toko berbasis Laravel</a:t>
            </a:r>
            <a:endParaRPr lang="en-US" sz="2400" dirty="0"/>
          </a:p>
        </p:txBody>
      </p:sp>
      <p:sp>
        <p:nvSpPr>
          <p:cNvPr id="4" name="Tagline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Studi kasus seluruh fase SDLC: analisis · perancangan · implementasi · pengujian · deployment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Masalah &amp; tujuan</a:t>
            </a:r>
            <a:endParaRPr lang="en-US" sz="3000" dirty="0"/>
          </a:p>
        </p:txBody>
      </p:sp>
      <p:sp>
        <p:nvSpPr>
          <p:cNvPr id="4" name="Masalah bg"/>
          <p:cNvSpPr/>
          <p:nvPr/>
        </p:nvSpPr>
        <p:spPr>
          <a:xfrm>
            <a:off x="640080" y="1463040"/>
            <a:ext cx="530352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salah bar"/>
          <p:cNvSpPr/>
          <p:nvPr/>
        </p:nvSpPr>
        <p:spPr>
          <a:xfrm>
            <a:off x="640080" y="1463040"/>
            <a:ext cx="82296" cy="34747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Masalah head"/>
          <p:cNvSpPr txBox="1"/>
          <p:nvPr/>
        </p:nvSpPr>
        <p:spPr>
          <a:xfrm>
            <a:off x="914400" y="15727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Masalah</a:t>
            </a:r>
            <a:endParaRPr lang="en-US" sz="1800" dirty="0"/>
          </a:p>
        </p:txBody>
      </p:sp>
      <p:sp>
        <p:nvSpPr>
          <p:cNvPr id="7" name="Masalah body"/>
          <p:cNvSpPr txBox="1"/>
          <p:nvPr/>
        </p:nvSpPr>
        <p:spPr>
          <a:xfrm>
            <a:off x="914400" y="20574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Pencatatan penjualan manual rawan salah hitung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Stok kosong baru diketahui saat pelanggan menanyakan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Rekap harian/bulanan memakan waktu</a:t>
            </a:r>
            <a:endParaRPr lang="en-US" sz="1800" dirty="0"/>
          </a:p>
        </p:txBody>
      </p:sp>
      <p:sp>
        <p:nvSpPr>
          <p:cNvPr id="8" name="Tujuan bg"/>
          <p:cNvSpPr/>
          <p:nvPr/>
        </p:nvSpPr>
        <p:spPr>
          <a:xfrm>
            <a:off x="6309360" y="1463040"/>
            <a:ext cx="530352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ujuan bar"/>
          <p:cNvSpPr/>
          <p:nvPr/>
        </p:nvSpPr>
        <p:spPr>
          <a:xfrm>
            <a:off x="6309360" y="1463040"/>
            <a:ext cx="82296" cy="34747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ujuan head"/>
          <p:cNvSpPr txBox="1"/>
          <p:nvPr/>
        </p:nvSpPr>
        <p:spPr>
          <a:xfrm>
            <a:off x="6583680" y="15727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Tujuan</a:t>
            </a:r>
            <a:endParaRPr lang="en-US" sz="1800" dirty="0"/>
          </a:p>
        </p:txBody>
      </p:sp>
      <p:sp>
        <p:nvSpPr>
          <p:cNvPr id="11" name="Tujuan body"/>
          <p:cNvSpPr txBox="1"/>
          <p:nvPr/>
        </p:nvSpPr>
        <p:spPr>
          <a:xfrm>
            <a:off x="6583680" y="20574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Transaksi kasir cepat dan akurat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Stok berkurang otomatis, peringatan stok menipis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Laporan penjualan siap pakai untuk pemilik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Kebutuhan sistem</a:t>
            </a:r>
            <a:endParaRPr lang="en-US" sz="3000" dirty="0"/>
          </a:p>
        </p:txBody>
      </p:sp>
      <p:sp>
        <p:nvSpPr>
          <p:cNvPr id="4" name="Admin bg"/>
          <p:cNvSpPr/>
          <p:nvPr/>
        </p:nvSpPr>
        <p:spPr>
          <a:xfrm>
            <a:off x="640080" y="1463040"/>
            <a:ext cx="347472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dmin bar"/>
          <p:cNvSpPr/>
          <p:nvPr/>
        </p:nvSpPr>
        <p:spPr>
          <a:xfrm>
            <a:off x="640080" y="1463040"/>
            <a:ext cx="82296" cy="2926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Admin head"/>
          <p:cNvSpPr txBox="1"/>
          <p:nvPr/>
        </p:nvSpPr>
        <p:spPr>
          <a:xfrm>
            <a:off x="914400" y="1572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Admin</a:t>
            </a:r>
            <a:endParaRPr lang="en-US" sz="1800" dirty="0"/>
          </a:p>
        </p:txBody>
      </p:sp>
      <p:sp>
        <p:nvSpPr>
          <p:cNvPr id="7" name="Admin body"/>
          <p:cNvSpPr txBox="1"/>
          <p:nvPr/>
        </p:nvSpPr>
        <p:spPr>
          <a:xfrm>
            <a:off x="914400" y="2057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Kelola produk &amp; kategori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Restock &amp; penyesuaian stok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Laporan penjualan</a:t>
            </a:r>
            <a:endParaRPr lang="en-US" sz="1800" dirty="0"/>
          </a:p>
        </p:txBody>
      </p:sp>
      <p:sp>
        <p:nvSpPr>
          <p:cNvPr id="8" name="Kasir bg"/>
          <p:cNvSpPr/>
          <p:nvPr/>
        </p:nvSpPr>
        <p:spPr>
          <a:xfrm>
            <a:off x="4361688" y="1463040"/>
            <a:ext cx="347472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Kasir bar"/>
          <p:cNvSpPr/>
          <p:nvPr/>
        </p:nvSpPr>
        <p:spPr>
          <a:xfrm>
            <a:off x="4361688" y="1463040"/>
            <a:ext cx="82296" cy="2926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Kasir head"/>
          <p:cNvSpPr txBox="1"/>
          <p:nvPr/>
        </p:nvSpPr>
        <p:spPr>
          <a:xfrm>
            <a:off x="4636008" y="1572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Kasir</a:t>
            </a:r>
            <a:endParaRPr lang="en-US" sz="1800" dirty="0"/>
          </a:p>
        </p:txBody>
      </p:sp>
      <p:sp>
        <p:nvSpPr>
          <p:cNvPr id="11" name="Kasir body"/>
          <p:cNvSpPr txBox="1"/>
          <p:nvPr/>
        </p:nvSpPr>
        <p:spPr>
          <a:xfrm>
            <a:off x="4636008" y="2057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Keranjang &amp; pembayaran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Cetak struk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Riwayat transaksi sendiri</a:t>
            </a:r>
            <a:endParaRPr lang="en-US" sz="1800" dirty="0"/>
          </a:p>
        </p:txBody>
      </p:sp>
      <p:sp>
        <p:nvSpPr>
          <p:cNvPr id="12" name="NFR bg"/>
          <p:cNvSpPr/>
          <p:nvPr/>
        </p:nvSpPr>
        <p:spPr>
          <a:xfrm>
            <a:off x="8083296" y="1463040"/>
            <a:ext cx="347472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FR bar"/>
          <p:cNvSpPr/>
          <p:nvPr/>
        </p:nvSpPr>
        <p:spPr>
          <a:xfrm>
            <a:off x="8083296" y="1463040"/>
            <a:ext cx="82296" cy="29260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FR head"/>
          <p:cNvSpPr txBox="1"/>
          <p:nvPr/>
        </p:nvSpPr>
        <p:spPr>
          <a:xfrm>
            <a:off x="8357616" y="1572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Non-fungsional</a:t>
            </a:r>
            <a:endParaRPr lang="en-US" sz="1800" dirty="0"/>
          </a:p>
        </p:txBody>
      </p:sp>
      <p:sp>
        <p:nvSpPr>
          <p:cNvPr id="15" name="NFR body"/>
          <p:cNvSpPr txBox="1"/>
          <p:nvPr/>
        </p:nvSpPr>
        <p:spPr>
          <a:xfrm>
            <a:off x="8357616" y="2057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Hak akses per peran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Transaksi atomik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Responsif &amp; teruji (CI)</a:t>
            </a:r>
            <a:endParaRPr lang="en-US" sz="1800" dirty="0"/>
          </a:p>
        </p:txBody>
      </p:sp>
      <p:sp>
        <p:nvSpPr>
          <p:cNvPr id="16" name="Footnote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10 kebutuhan fungsional (F-01 … F-10) · 5 kelompok kebutuhan non-fungsional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Arsitektur &amp; basis data</a:t>
            </a:r>
            <a:endParaRPr lang="en-US" sz="3000" dirty="0"/>
          </a:p>
        </p:txBody>
      </p:sp>
      <p:sp>
        <p:nvSpPr>
          <p:cNvPr id="4" name="Flow 1"/>
          <p:cNvSpPr/>
          <p:nvPr/>
        </p:nvSpPr>
        <p:spPr>
          <a:xfrm>
            <a:off x="640080" y="1463040"/>
            <a:ext cx="182880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Flow text 1"/>
          <p:cNvSpPr txBox="1"/>
          <p:nvPr/>
        </p:nvSpPr>
        <p:spPr>
          <a:xfrm>
            <a:off x="64008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Browser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(Blade + Alpine)</a:t>
            </a:r>
            <a:endParaRPr lang="en-US" sz="1500" dirty="0"/>
          </a:p>
        </p:txBody>
      </p:sp>
      <p:sp>
        <p:nvSpPr>
          <p:cNvPr id="6" name="Arrow 1"/>
          <p:cNvSpPr txBox="1"/>
          <p:nvPr/>
        </p:nvSpPr>
        <p:spPr>
          <a:xfrm>
            <a:off x="2468880" y="1645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Flow 2"/>
          <p:cNvSpPr/>
          <p:nvPr/>
        </p:nvSpPr>
        <p:spPr>
          <a:xfrm>
            <a:off x="2926080" y="1463040"/>
            <a:ext cx="182880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Flow text 2"/>
          <p:cNvSpPr txBox="1"/>
          <p:nvPr/>
        </p:nvSpPr>
        <p:spPr>
          <a:xfrm>
            <a:off x="292608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Route 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Middleware</a:t>
            </a:r>
            <a:endParaRPr lang="en-US" sz="1500" dirty="0"/>
          </a:p>
        </p:txBody>
      </p:sp>
      <p:sp>
        <p:nvSpPr>
          <p:cNvPr id="9" name="Arrow 2"/>
          <p:cNvSpPr txBox="1"/>
          <p:nvPr/>
        </p:nvSpPr>
        <p:spPr>
          <a:xfrm>
            <a:off x="4754880" y="1645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Flow 3"/>
          <p:cNvSpPr/>
          <p:nvPr/>
        </p:nvSpPr>
        <p:spPr>
          <a:xfrm>
            <a:off x="5212080" y="1463040"/>
            <a:ext cx="182880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Flow text 3"/>
          <p:cNvSpPr txBox="1"/>
          <p:nvPr/>
        </p:nvSpPr>
        <p:spPr>
          <a:xfrm>
            <a:off x="521208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Controller</a:t>
            </a:r>
            <a:endParaRPr lang="en-US" sz="1500" dirty="0"/>
          </a:p>
        </p:txBody>
      </p:sp>
      <p:sp>
        <p:nvSpPr>
          <p:cNvPr id="12" name="Arrow 3"/>
          <p:cNvSpPr txBox="1"/>
          <p:nvPr/>
        </p:nvSpPr>
        <p:spPr>
          <a:xfrm>
            <a:off x="7040880" y="1645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Flow 4"/>
          <p:cNvSpPr/>
          <p:nvPr/>
        </p:nvSpPr>
        <p:spPr>
          <a:xfrm>
            <a:off x="7498080" y="1463040"/>
            <a:ext cx="182880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Flow text 4"/>
          <p:cNvSpPr txBox="1"/>
          <p:nvPr/>
        </p:nvSpPr>
        <p:spPr>
          <a:xfrm>
            <a:off x="749808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Service /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Model</a:t>
            </a:r>
            <a:endParaRPr lang="en-US" sz="1500" dirty="0"/>
          </a:p>
        </p:txBody>
      </p:sp>
      <p:sp>
        <p:nvSpPr>
          <p:cNvPr id="15" name="Arrow 4"/>
          <p:cNvSpPr txBox="1"/>
          <p:nvPr/>
        </p:nvSpPr>
        <p:spPr>
          <a:xfrm>
            <a:off x="9326880" y="1645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Flow 5"/>
          <p:cNvSpPr/>
          <p:nvPr/>
        </p:nvSpPr>
        <p:spPr>
          <a:xfrm>
            <a:off x="9784080" y="1463040"/>
            <a:ext cx="182880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Flow text 5"/>
          <p:cNvSpPr txBox="1"/>
          <p:nvPr/>
        </p:nvSpPr>
        <p:spPr>
          <a:xfrm>
            <a:off x="978408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MySQL</a:t>
            </a:r>
            <a:endParaRPr lang="en-US" sz="1500" dirty="0"/>
          </a:p>
        </p:txBody>
      </p:sp>
      <p:sp>
        <p:nvSpPr>
          <p:cNvPr id="18" name="Tabel users bg"/>
          <p:cNvSpPr/>
          <p:nvPr/>
        </p:nvSpPr>
        <p:spPr>
          <a:xfrm>
            <a:off x="640080" y="2926080"/>
            <a:ext cx="352044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abel users bar"/>
          <p:cNvSpPr/>
          <p:nvPr/>
        </p:nvSpPr>
        <p:spPr>
          <a:xfrm>
            <a:off x="640080" y="2926080"/>
            <a:ext cx="82296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abel users head"/>
          <p:cNvSpPr txBox="1"/>
          <p:nvPr/>
        </p:nvSpPr>
        <p:spPr>
          <a:xfrm>
            <a:off x="914400" y="30358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users</a:t>
            </a:r>
            <a:endParaRPr lang="en-US" sz="1800" dirty="0"/>
          </a:p>
        </p:txBody>
      </p:sp>
      <p:sp>
        <p:nvSpPr>
          <p:cNvPr id="21" name="Tabel users body"/>
          <p:cNvSpPr txBox="1"/>
          <p:nvPr/>
        </p:nvSpPr>
        <p:spPr>
          <a:xfrm>
            <a:off x="914400" y="35204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id · name · email · role</a:t>
            </a:r>
            <a:endParaRPr lang="en-US" sz="1800" dirty="0"/>
          </a:p>
        </p:txBody>
      </p:sp>
      <p:sp>
        <p:nvSpPr>
          <p:cNvPr id="22" name="Tabel categories bg"/>
          <p:cNvSpPr/>
          <p:nvPr/>
        </p:nvSpPr>
        <p:spPr>
          <a:xfrm>
            <a:off x="4343400" y="2926080"/>
            <a:ext cx="352044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abel categories bar"/>
          <p:cNvSpPr/>
          <p:nvPr/>
        </p:nvSpPr>
        <p:spPr>
          <a:xfrm>
            <a:off x="4343400" y="2926080"/>
            <a:ext cx="82296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abel categories head"/>
          <p:cNvSpPr txBox="1"/>
          <p:nvPr/>
        </p:nvSpPr>
        <p:spPr>
          <a:xfrm>
            <a:off x="4617720" y="30358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categories</a:t>
            </a:r>
            <a:endParaRPr lang="en-US" sz="1800" dirty="0"/>
          </a:p>
        </p:txBody>
      </p:sp>
      <p:sp>
        <p:nvSpPr>
          <p:cNvPr id="25" name="Tabel categories body"/>
          <p:cNvSpPr txBox="1"/>
          <p:nvPr/>
        </p:nvSpPr>
        <p:spPr>
          <a:xfrm>
            <a:off x="4617720" y="35204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id · name</a:t>
            </a:r>
            <a:endParaRPr lang="en-US" sz="1800" dirty="0"/>
          </a:p>
        </p:txBody>
      </p:sp>
      <p:sp>
        <p:nvSpPr>
          <p:cNvPr id="26" name="Tabel products bg"/>
          <p:cNvSpPr/>
          <p:nvPr/>
        </p:nvSpPr>
        <p:spPr>
          <a:xfrm>
            <a:off x="8046720" y="2926080"/>
            <a:ext cx="352044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abel products bar"/>
          <p:cNvSpPr/>
          <p:nvPr/>
        </p:nvSpPr>
        <p:spPr>
          <a:xfrm>
            <a:off x="8046720" y="2926080"/>
            <a:ext cx="82296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abel products head"/>
          <p:cNvSpPr txBox="1"/>
          <p:nvPr/>
        </p:nvSpPr>
        <p:spPr>
          <a:xfrm>
            <a:off x="8321040" y="30358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products</a:t>
            </a:r>
            <a:endParaRPr lang="en-US" sz="1800" dirty="0"/>
          </a:p>
        </p:txBody>
      </p:sp>
      <p:sp>
        <p:nvSpPr>
          <p:cNvPr id="29" name="Tabel products body"/>
          <p:cNvSpPr txBox="1"/>
          <p:nvPr/>
        </p:nvSpPr>
        <p:spPr>
          <a:xfrm>
            <a:off x="8321040" y="35204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sku · price · stock · min_stock</a:t>
            </a:r>
            <a:endParaRPr lang="en-US" sz="1800" dirty="0"/>
          </a:p>
        </p:txBody>
      </p:sp>
      <p:sp>
        <p:nvSpPr>
          <p:cNvPr id="30" name="Tabel sales bg"/>
          <p:cNvSpPr/>
          <p:nvPr/>
        </p:nvSpPr>
        <p:spPr>
          <a:xfrm>
            <a:off x="640080" y="4526280"/>
            <a:ext cx="352044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abel sales bar"/>
          <p:cNvSpPr/>
          <p:nvPr/>
        </p:nvSpPr>
        <p:spPr>
          <a:xfrm>
            <a:off x="640080" y="4526280"/>
            <a:ext cx="82296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2" name="Tabel sales head"/>
          <p:cNvSpPr txBox="1"/>
          <p:nvPr/>
        </p:nvSpPr>
        <p:spPr>
          <a:xfrm>
            <a:off x="914400" y="46360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sales</a:t>
            </a:r>
            <a:endParaRPr lang="en-US" sz="1800" dirty="0"/>
          </a:p>
        </p:txBody>
      </p:sp>
      <p:sp>
        <p:nvSpPr>
          <p:cNvPr id="33" name="Tabel sales body"/>
          <p:cNvSpPr txBox="1"/>
          <p:nvPr/>
        </p:nvSpPr>
        <p:spPr>
          <a:xfrm>
            <a:off x="914400" y="5120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invoice_no · total · paid · user_id</a:t>
            </a:r>
            <a:endParaRPr lang="en-US" sz="1800" dirty="0"/>
          </a:p>
        </p:txBody>
      </p:sp>
      <p:sp>
        <p:nvSpPr>
          <p:cNvPr id="34" name="Tabel sale_items bg"/>
          <p:cNvSpPr/>
          <p:nvPr/>
        </p:nvSpPr>
        <p:spPr>
          <a:xfrm>
            <a:off x="4343400" y="4526280"/>
            <a:ext cx="352044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abel sale_items bar"/>
          <p:cNvSpPr/>
          <p:nvPr/>
        </p:nvSpPr>
        <p:spPr>
          <a:xfrm>
            <a:off x="4343400" y="4526280"/>
            <a:ext cx="82296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Tabel sale_items head"/>
          <p:cNvSpPr txBox="1"/>
          <p:nvPr/>
        </p:nvSpPr>
        <p:spPr>
          <a:xfrm>
            <a:off x="4617720" y="46360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sale_items</a:t>
            </a:r>
            <a:endParaRPr lang="en-US" sz="1800" dirty="0"/>
          </a:p>
        </p:txBody>
      </p:sp>
      <p:sp>
        <p:nvSpPr>
          <p:cNvPr id="37" name="Tabel sale_items body"/>
          <p:cNvSpPr txBox="1"/>
          <p:nvPr/>
        </p:nvSpPr>
        <p:spPr>
          <a:xfrm>
            <a:off x="4617720" y="5120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snapshot nama &amp; harga · qty</a:t>
            </a:r>
            <a:endParaRPr lang="en-US" sz="1800" dirty="0"/>
          </a:p>
        </p:txBody>
      </p:sp>
      <p:sp>
        <p:nvSpPr>
          <p:cNvPr id="38" name="Tabel stock_movements bg"/>
          <p:cNvSpPr/>
          <p:nvPr/>
        </p:nvSpPr>
        <p:spPr>
          <a:xfrm>
            <a:off x="8046720" y="4526280"/>
            <a:ext cx="352044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abel stock_movements bar"/>
          <p:cNvSpPr/>
          <p:nvPr/>
        </p:nvSpPr>
        <p:spPr>
          <a:xfrm>
            <a:off x="8046720" y="4526280"/>
            <a:ext cx="82296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0" name="Tabel stock_movements head"/>
          <p:cNvSpPr txBox="1"/>
          <p:nvPr/>
        </p:nvSpPr>
        <p:spPr>
          <a:xfrm>
            <a:off x="8321040" y="46360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stock_movements</a:t>
            </a:r>
            <a:endParaRPr lang="en-US" sz="1800" dirty="0"/>
          </a:p>
        </p:txBody>
      </p:sp>
      <p:sp>
        <p:nvSpPr>
          <p:cNvPr id="41" name="Tabel stock_movements body"/>
          <p:cNvSpPr txBox="1"/>
          <p:nvPr/>
        </p:nvSpPr>
        <p:spPr>
          <a:xfrm>
            <a:off x="8321040" y="5120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type · qty · note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Implementasi: bagian terpenting</a:t>
            </a:r>
            <a:endParaRPr lang="en-US" sz="3000" dirty="0"/>
          </a:p>
        </p:txBody>
      </p:sp>
      <p:sp>
        <p:nvSpPr>
          <p:cNvPr id="4" name="Stack bg"/>
          <p:cNvSpPr/>
          <p:nvPr/>
        </p:nvSpPr>
        <p:spPr>
          <a:xfrm>
            <a:off x="640080" y="1463040"/>
            <a:ext cx="530352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ck bar"/>
          <p:cNvSpPr/>
          <p:nvPr/>
        </p:nvSpPr>
        <p:spPr>
          <a:xfrm>
            <a:off x="640080" y="1463040"/>
            <a:ext cx="82296" cy="3474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tack head"/>
          <p:cNvSpPr txBox="1"/>
          <p:nvPr/>
        </p:nvSpPr>
        <p:spPr>
          <a:xfrm>
            <a:off x="914400" y="15727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Teknologi</a:t>
            </a:r>
            <a:endParaRPr lang="en-US" sz="1800" dirty="0"/>
          </a:p>
        </p:txBody>
      </p:sp>
      <p:sp>
        <p:nvSpPr>
          <p:cNvPr id="7" name="Stack body"/>
          <p:cNvSpPr txBox="1"/>
          <p:nvPr/>
        </p:nvSpPr>
        <p:spPr>
          <a:xfrm>
            <a:off x="914400" y="20574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Laravel 11/12 (MVC) + Eloquent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Blade, Alpine.js, Tailwind (Breeze)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SQLite (lokal/test) · MySQL (produksi)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Role middleware: admin / kasir</a:t>
            </a:r>
            <a:endParaRPr lang="en-US" sz="1800" dirty="0"/>
          </a:p>
        </p:txBody>
      </p:sp>
      <p:sp>
        <p:nvSpPr>
          <p:cNvPr id="8" name="Checkout bg"/>
          <p:cNvSpPr/>
          <p:nvPr/>
        </p:nvSpPr>
        <p:spPr>
          <a:xfrm>
            <a:off x="6309360" y="1463040"/>
            <a:ext cx="530352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heckout bar"/>
          <p:cNvSpPr/>
          <p:nvPr/>
        </p:nvSpPr>
        <p:spPr>
          <a:xfrm>
            <a:off x="6309360" y="1463040"/>
            <a:ext cx="82296" cy="34747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Checkout head"/>
          <p:cNvSpPr txBox="1"/>
          <p:nvPr/>
        </p:nvSpPr>
        <p:spPr>
          <a:xfrm>
            <a:off x="6583680" y="15727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CheckoutService</a:t>
            </a:r>
            <a:endParaRPr lang="en-US" sz="1800" dirty="0"/>
          </a:p>
        </p:txBody>
      </p:sp>
      <p:sp>
        <p:nvSpPr>
          <p:cNvPr id="11" name="Checkout body"/>
          <p:cNvSpPr txBox="1"/>
          <p:nvPr/>
        </p:nvSpPr>
        <p:spPr>
          <a:xfrm>
            <a:off x="6583680" y="20574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DB::transaction + lockForUpdate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Validasi stok &amp; uang diterima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Simpan sale, item (snapshot), mutasi stok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Gagal → rollback, pesan 422 ke kasir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Pengujian</a:t>
            </a:r>
            <a:endParaRPr lang="en-US" sz="3000" dirty="0"/>
          </a:p>
        </p:txBody>
      </p:sp>
      <p:sp>
        <p:nvSpPr>
          <p:cNvPr id="4" name="Otomatis bg"/>
          <p:cNvSpPr/>
          <p:nvPr/>
        </p:nvSpPr>
        <p:spPr>
          <a:xfrm>
            <a:off x="640080" y="1463040"/>
            <a:ext cx="5303520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Otomatis bar"/>
          <p:cNvSpPr/>
          <p:nvPr/>
        </p:nvSpPr>
        <p:spPr>
          <a:xfrm>
            <a:off x="640080" y="1463040"/>
            <a:ext cx="82296" cy="2743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Otomatis head"/>
          <p:cNvSpPr txBox="1"/>
          <p:nvPr/>
        </p:nvSpPr>
        <p:spPr>
          <a:xfrm>
            <a:off x="914400" y="15727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8 feature test (PHPUnit)</a:t>
            </a:r>
            <a:endParaRPr lang="en-US" sz="1800" dirty="0"/>
          </a:p>
        </p:txBody>
      </p:sp>
      <p:sp>
        <p:nvSpPr>
          <p:cNvPr id="7" name="Otomatis body"/>
          <p:cNvSpPr txBox="1"/>
          <p:nvPr/>
        </p:nvSpPr>
        <p:spPr>
          <a:xfrm>
            <a:off x="914400" y="20574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Checkout valid, stok kurang, uang kurang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Baris produk duplikat digabung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Tamu → login, kasir → 403, struk milik orang lain</a:t>
            </a:r>
            <a:endParaRPr lang="en-US" sz="1800" dirty="0"/>
          </a:p>
        </p:txBody>
      </p:sp>
      <p:sp>
        <p:nvSpPr>
          <p:cNvPr id="8" name="UAT bg"/>
          <p:cNvSpPr/>
          <p:nvPr/>
        </p:nvSpPr>
        <p:spPr>
          <a:xfrm>
            <a:off x="6309360" y="1463040"/>
            <a:ext cx="5303520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UAT bar"/>
          <p:cNvSpPr/>
          <p:nvPr/>
        </p:nvSpPr>
        <p:spPr>
          <a:xfrm>
            <a:off x="6309360" y="1463040"/>
            <a:ext cx="82296" cy="2743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UAT head"/>
          <p:cNvSpPr txBox="1"/>
          <p:nvPr/>
        </p:nvSpPr>
        <p:spPr>
          <a:xfrm>
            <a:off x="6583680" y="15727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UAT manual</a:t>
            </a:r>
            <a:endParaRPr lang="en-US" sz="1800" dirty="0"/>
          </a:p>
        </p:txBody>
      </p:sp>
      <p:sp>
        <p:nvSpPr>
          <p:cNvPr id="11" name="UAT body"/>
          <p:cNvSpPr txBox="1"/>
          <p:nvPr/>
        </p:nvSpPr>
        <p:spPr>
          <a:xfrm>
            <a:off x="6583680" y="20574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Checklist 7 alur pengguna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Total laporan = jumlah struk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Dicatat di docs/SDLC.md §4</a:t>
            </a:r>
            <a:endParaRPr lang="en-US" sz="1800" dirty="0"/>
          </a:p>
        </p:txBody>
      </p:sp>
      <p:sp>
        <p:nvSpPr>
          <p:cNvPr id="12" name="CI note"/>
          <p:cNvSpPr txBox="1"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CI: GitHub Actions menjalankan php artisan test di setiap push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Deployment dengan Docker</a:t>
            </a:r>
            <a:endParaRPr lang="en-US" sz="3000" dirty="0"/>
          </a:p>
        </p:txBody>
      </p:sp>
      <p:sp>
        <p:nvSpPr>
          <p:cNvPr id="4" name="Step 1"/>
          <p:cNvSpPr/>
          <p:nvPr/>
        </p:nvSpPr>
        <p:spPr>
          <a:xfrm>
            <a:off x="640080" y="1645920"/>
            <a:ext cx="182880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Step text 1"/>
          <p:cNvSpPr txBox="1"/>
          <p:nvPr/>
        </p:nvSpPr>
        <p:spPr>
          <a:xfrm>
            <a:off x="64008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git push</a:t>
            </a:r>
            <a:endParaRPr lang="en-US" sz="1500" dirty="0"/>
          </a:p>
        </p:txBody>
      </p:sp>
      <p:sp>
        <p:nvSpPr>
          <p:cNvPr id="6" name="Step arrow 1"/>
          <p:cNvSpPr txBox="1"/>
          <p:nvPr/>
        </p:nvSpPr>
        <p:spPr>
          <a:xfrm>
            <a:off x="2468880" y="1874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tep 2"/>
          <p:cNvSpPr/>
          <p:nvPr/>
        </p:nvSpPr>
        <p:spPr>
          <a:xfrm>
            <a:off x="2926080" y="1645920"/>
            <a:ext cx="182880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Step text 2"/>
          <p:cNvSpPr txBox="1"/>
          <p:nvPr/>
        </p:nvSpPr>
        <p:spPr>
          <a:xfrm>
            <a:off x="292608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CI: test + build</a:t>
            </a:r>
            <a:endParaRPr lang="en-US" sz="1500" dirty="0"/>
          </a:p>
        </p:txBody>
      </p:sp>
      <p:sp>
        <p:nvSpPr>
          <p:cNvPr id="9" name="Step arrow 2"/>
          <p:cNvSpPr txBox="1"/>
          <p:nvPr/>
        </p:nvSpPr>
        <p:spPr>
          <a:xfrm>
            <a:off x="4754880" y="1874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tep 3"/>
          <p:cNvSpPr/>
          <p:nvPr/>
        </p:nvSpPr>
        <p:spPr>
          <a:xfrm>
            <a:off x="5212080" y="1645920"/>
            <a:ext cx="182880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Step text 3"/>
          <p:cNvSpPr txBox="1"/>
          <p:nvPr/>
        </p:nvSpPr>
        <p:spPr>
          <a:xfrm>
            <a:off x="521208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docker compose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up -d --build</a:t>
            </a:r>
            <a:endParaRPr lang="en-US" sz="1500" dirty="0"/>
          </a:p>
        </p:txBody>
      </p:sp>
      <p:sp>
        <p:nvSpPr>
          <p:cNvPr id="12" name="Step arrow 3"/>
          <p:cNvSpPr txBox="1"/>
          <p:nvPr/>
        </p:nvSpPr>
        <p:spPr>
          <a:xfrm>
            <a:off x="7040880" y="1874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tep 4"/>
          <p:cNvSpPr/>
          <p:nvPr/>
        </p:nvSpPr>
        <p:spPr>
          <a:xfrm>
            <a:off x="7498080" y="1645920"/>
            <a:ext cx="182880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Step text 4"/>
          <p:cNvSpPr txBox="1"/>
          <p:nvPr/>
        </p:nvSpPr>
        <p:spPr>
          <a:xfrm>
            <a:off x="749808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Migrasi otomatis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&amp; cache</a:t>
            </a:r>
            <a:endParaRPr lang="en-US" sz="1500" dirty="0"/>
          </a:p>
        </p:txBody>
      </p:sp>
      <p:sp>
        <p:nvSpPr>
          <p:cNvPr id="15" name="Step arrow 4"/>
          <p:cNvSpPr txBox="1"/>
          <p:nvPr/>
        </p:nvSpPr>
        <p:spPr>
          <a:xfrm>
            <a:off x="9326880" y="1874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tep 5"/>
          <p:cNvSpPr/>
          <p:nvPr/>
        </p:nvSpPr>
        <p:spPr>
          <a:xfrm>
            <a:off x="9784080" y="1645920"/>
            <a:ext cx="1828800" cy="1005840"/>
          </a:xfrm>
          <a:prstGeom prst="roundRect">
            <a:avLst>
              <a:gd name="adj" fmla="val 9091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Step text 5"/>
          <p:cNvSpPr txBox="1"/>
          <p:nvPr/>
        </p:nvSpPr>
        <p:spPr>
          <a:xfrm>
            <a:off x="978408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Nginx · PHP-FPM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· MySQL</a:t>
            </a:r>
            <a:endParaRPr lang="en-US" sz="1500" dirty="0"/>
          </a:p>
        </p:txBody>
      </p:sp>
      <p:sp>
        <p:nvSpPr>
          <p:cNvPr id="18" name="Prod bg"/>
          <p:cNvSpPr/>
          <p:nvPr/>
        </p:nvSpPr>
        <p:spPr>
          <a:xfrm>
            <a:off x="640080" y="3200400"/>
            <a:ext cx="5303520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rod bar"/>
          <p:cNvSpPr/>
          <p:nvPr/>
        </p:nvSpPr>
        <p:spPr>
          <a:xfrm>
            <a:off x="640080" y="3200400"/>
            <a:ext cx="82296" cy="23774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Prod head"/>
          <p:cNvSpPr txBox="1"/>
          <p:nvPr/>
        </p:nvSpPr>
        <p:spPr>
          <a:xfrm>
            <a:off x="914400" y="3310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Checklist produksi</a:t>
            </a:r>
            <a:endParaRPr lang="en-US" sz="1800" dirty="0"/>
          </a:p>
        </p:txBody>
      </p:sp>
      <p:sp>
        <p:nvSpPr>
          <p:cNvPr id="21" name="Prod body"/>
          <p:cNvSpPr txBox="1"/>
          <p:nvPr/>
        </p:nvSpPr>
        <p:spPr>
          <a:xfrm>
            <a:off x="914400" y="37947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APP_DEBUG=false, APP_KEY terisi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Ganti password akun demo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HTTPS lewat reverse proxy</a:t>
            </a:r>
            <a:endParaRPr lang="en-US" sz="1800" dirty="0"/>
          </a:p>
        </p:txBody>
      </p:sp>
      <p:sp>
        <p:nvSpPr>
          <p:cNvPr id="22" name="Ops bg"/>
          <p:cNvSpPr/>
          <p:nvPr/>
        </p:nvSpPr>
        <p:spPr>
          <a:xfrm>
            <a:off x="6309360" y="3200400"/>
            <a:ext cx="5303520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Ops bar"/>
          <p:cNvSpPr/>
          <p:nvPr/>
        </p:nvSpPr>
        <p:spPr>
          <a:xfrm>
            <a:off x="6309360" y="3200400"/>
            <a:ext cx="82296" cy="2377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Ops head"/>
          <p:cNvSpPr txBox="1"/>
          <p:nvPr/>
        </p:nvSpPr>
        <p:spPr>
          <a:xfrm>
            <a:off x="6583680" y="3310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Operasional</a:t>
            </a:r>
            <a:endParaRPr lang="en-US" sz="1800" dirty="0"/>
          </a:p>
        </p:txBody>
      </p:sp>
      <p:sp>
        <p:nvSpPr>
          <p:cNvPr id="25" name="Ops body"/>
          <p:cNvSpPr txBox="1"/>
          <p:nvPr/>
        </p:nvSpPr>
        <p:spPr>
          <a:xfrm>
            <a:off x="6583680" y="37947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Backup mysqldump terjadwal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Log: storage/logs &amp; docker logs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Rollback: build ulang tag lama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Demo &amp; pengembangan lanjutan</a:t>
            </a:r>
            <a:endParaRPr lang="en-US" sz="3000" dirty="0"/>
          </a:p>
        </p:txBody>
      </p:sp>
      <p:sp>
        <p:nvSpPr>
          <p:cNvPr id="4" name="Demo bg"/>
          <p:cNvSpPr/>
          <p:nvPr/>
        </p:nvSpPr>
        <p:spPr>
          <a:xfrm>
            <a:off x="640080" y="1463040"/>
            <a:ext cx="530352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emo bar"/>
          <p:cNvSpPr/>
          <p:nvPr/>
        </p:nvSpPr>
        <p:spPr>
          <a:xfrm>
            <a:off x="640080" y="1463040"/>
            <a:ext cx="82296" cy="3474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emo head"/>
          <p:cNvSpPr txBox="1"/>
          <p:nvPr/>
        </p:nvSpPr>
        <p:spPr>
          <a:xfrm>
            <a:off x="914400" y="15727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Alur demo</a:t>
            </a:r>
            <a:endParaRPr lang="en-US" sz="1800" dirty="0"/>
          </a:p>
        </p:txBody>
      </p:sp>
      <p:sp>
        <p:nvSpPr>
          <p:cNvPr id="7" name="Demo body"/>
          <p:cNvSpPr txBox="1"/>
          <p:nvPr/>
        </p:nvSpPr>
        <p:spPr>
          <a:xfrm>
            <a:off x="914400" y="20574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Kasir: 3 item → tunai → struk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Beli melebihi stok → ditolak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Admin: restock → laporan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Jalankan php artisan test</a:t>
            </a:r>
            <a:endParaRPr lang="en-US" sz="1800" dirty="0"/>
          </a:p>
        </p:txBody>
      </p:sp>
      <p:sp>
        <p:nvSpPr>
          <p:cNvPr id="8" name="Next bg"/>
          <p:cNvSpPr/>
          <p:nvPr/>
        </p:nvSpPr>
        <p:spPr>
          <a:xfrm>
            <a:off x="6309360" y="1463040"/>
            <a:ext cx="530352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ext bar"/>
          <p:cNvSpPr/>
          <p:nvPr/>
        </p:nvSpPr>
        <p:spPr>
          <a:xfrm>
            <a:off x="6309360" y="1463040"/>
            <a:ext cx="82296" cy="34747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Next head"/>
          <p:cNvSpPr txBox="1"/>
          <p:nvPr/>
        </p:nvSpPr>
        <p:spPr>
          <a:xfrm>
            <a:off x="6583680" y="15727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Iterasi berikutnya</a:t>
            </a:r>
            <a:endParaRPr lang="en-US" sz="1800" dirty="0"/>
          </a:p>
        </p:txBody>
      </p:sp>
      <p:sp>
        <p:nvSpPr>
          <p:cNvPr id="11" name="Next body"/>
          <p:cNvSpPr txBox="1"/>
          <p:nvPr/>
        </p:nvSpPr>
        <p:spPr>
          <a:xfrm>
            <a:off x="6583680" y="20574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Manajemen pengguna lewat UI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Void/retur, diskon, pajak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Ekspor Excel/PDF, barcode scanner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Integrasi payment gateway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koKu">
  <a:themeElements>
    <a:clrScheme name="TokoKu">
      <a:dk1>
        <a:srgbClr val="1F2937"/>
      </a:dk1>
      <a:lt1>
        <a:srgbClr val="FFFFFF"/>
      </a:lt1>
      <a:dk2>
        <a:srgbClr val="312E81"/>
      </a:dk2>
      <a:lt2>
        <a:srgbClr val="EEF2FF"/>
      </a:lt2>
      <a:accent1>
        <a:srgbClr val="4F46E5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6B7280"/>
      </a:accent6>
      <a:hlink>
        <a:srgbClr val="4F46E5"/>
      </a:hlink>
      <a:folHlink>
        <a:srgbClr val="6B7280"/>
      </a:folHlink>
    </a:clrScheme>
    <a:fontScheme name="TokoKu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TokoKu POS — Presentasi SDLC</dc:title>
  <dc:subject>PptxGenJS Presentation</dc:subject>
  <dc:creator>PptxGenJS</dc:creator>
  <cp:lastModifiedBy>PptxGenJS</cp:lastModifiedBy>
  <cp:revision>1</cp:revision>
  <dcterms:created xsi:type="dcterms:W3CDTF">2026-10-09T06:56:25Z</dcterms:created>
  <dcterms:modified xsi:type="dcterms:W3CDTF">2026-10-09T06:56:25Z</dcterms:modified>
</cp:coreProperties>
</file>